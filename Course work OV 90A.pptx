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68"/>
    <a:srgbClr val="2F02AC"/>
    <a:srgbClr val="821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79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226411"/>
            <a:ext cx="9144000" cy="93726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0292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2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 Processing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57200" y="1874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array elements to zero based on a conditional sum rule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Olga Valerianova  ·  Applied Informatics · group 90A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292608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5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matrix A[N][N] of integers in [-1000, 1000]
</a:t>
            </a: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Actions required: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task instructions and the author's name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3774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display the matrix 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inputs M, K, L from the user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1089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A[i][j] = 0 if  (A[i][j] + M)  is even  AND  falls within [K, L]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45643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747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display the number of modified elements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960120"/>
            <a:ext cx="5669280" cy="457200"/>
          </a:xfrm>
          <a:prstGeom prst="rect">
            <a:avLst/>
          </a:prstGeom>
          <a:solidFill>
            <a:srgbClr val="0A8A7A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960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50876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508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 → declare A[N][N]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05740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2057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element with validation ∈ [-1000,1000]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251460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60604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M, K, 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06324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15468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3154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A[i][j]: compute sum = A[i][j] + 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61188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3703320"/>
            <a:ext cx="566928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3736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even AND K ≤ sum ≤ L?  →  A[i][j] = 0,  count++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160520"/>
            <a:ext cx="0" cy="91440"/>
          </a:xfrm>
          <a:prstGeom prst="line">
            <a:avLst/>
          </a:prstGeom>
          <a:noFill/>
          <a:ln w="25400">
            <a:solidFill>
              <a:srgbClr val="0A8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251960"/>
            <a:ext cx="5669280" cy="457200"/>
          </a:xfrm>
          <a:prstGeom prst="rect">
            <a:avLst/>
          </a:prstGeom>
          <a:solidFill>
            <a:srgbClr val="0A8A7A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251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modified matrix + count → END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914399"/>
            <a:ext cx="1325880" cy="3866029"/>
          </a:xfrm>
          <a:prstGeom prst="rect">
            <a:avLst/>
          </a:prstGeom>
          <a:solidFill>
            <a:srgbClr val="EAF4F2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960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15087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05444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2606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15763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703319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51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
</a:t>
            </a: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{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050" dirty="0">
              <a:solidFill>
                <a:srgbClr val="6A995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“Enter matrix dimensions: ”</a:t>
            </a: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&amp;n);</a:t>
            </a:r>
          </a:p>
          <a:p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a[n][n];</a:t>
            </a:r>
            <a:endParaRPr lang="en-US" sz="1050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m, k, l, count = 0;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Input + validate each element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&amp;a[i][j]);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(!(a[i][j]&gt;=-1000 &amp;&amp; a[i][j]&lt;=1000));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Modify condition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a[i][j] + m;
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(sum % 2 == 0 &amp;&amp; sum &gt;= k &amp;&amp; sum &lt;= l) {
    a[i][j] =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0" y="960120"/>
            <a:ext cx="3383280" cy="896112"/>
          </a:xfrm>
          <a:prstGeom prst="rect">
            <a:avLst/>
          </a:prstGeom>
          <a:solidFill>
            <a:srgbClr val="132035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960120"/>
            <a:ext cx="54864" cy="896112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96128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Array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96128" y="12618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a[n][n] allocates the matrix on the stack with user-supplied size N: </a:t>
            </a:r>
            <a:r>
              <a:rPr lang="en-US" sz="95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</a:t>
            </a: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(“%d”, &amp;n).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1965960"/>
            <a:ext cx="3383280" cy="896112"/>
          </a:xfrm>
          <a:prstGeom prst="rect">
            <a:avLst/>
          </a:prstGeom>
          <a:solidFill>
            <a:srgbClr val="132035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965960"/>
            <a:ext cx="54864" cy="896112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2011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96128" y="22677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re-prompts the user until the entered value is within [-1000, 1000].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2971800"/>
            <a:ext cx="3383280" cy="896112"/>
          </a:xfrm>
          <a:prstGeom prst="rect">
            <a:avLst/>
          </a:prstGeom>
          <a:solidFill>
            <a:srgbClr val="132035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971800"/>
            <a:ext cx="54864" cy="896112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Condition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32735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% 2 == 0 checks evenness. Range check ensures sum ∈ [K, L]. Both </a:t>
            </a:r>
            <a:r>
              <a:rPr lang="en-US" sz="9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3977640"/>
            <a:ext cx="3383280" cy="896112"/>
          </a:xfrm>
          <a:prstGeom prst="rect">
            <a:avLst/>
          </a:prstGeom>
          <a:solidFill>
            <a:srgbClr val="132035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977640"/>
            <a:ext cx="54864" cy="896112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4023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96128" y="42793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count++ tracks how many elements were zeroed, reported at the end.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4249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4249"/>
            <a:ext cx="2560320" cy="347472"/>
          </a:xfrm>
          <a:prstGeom prst="rect">
            <a:avLst/>
          </a:prstGeom>
          <a:solidFill>
            <a:srgbClr val="0A8A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9800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8401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51345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5833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" y="20116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03265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" y="2297833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0697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8848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Matrix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91971" y="115590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1971" y="115590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86331" y="115590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6331" y="115590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80691" y="115590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0691" y="115590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1971" y="165882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1971" y="165882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86331" y="165882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6331" y="165882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80691" y="165882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0691" y="165882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91971" y="216174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1971" y="216174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86331" y="216174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6331" y="216174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80691" y="2161749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0691" y="216174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85005" y="1666897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8A7A"/>
                </a:solidFill>
              </a:rPr>
              <a:t>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43600" y="885085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Matrix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89320" y="1163977"/>
            <a:ext cx="548640" cy="438912"/>
          </a:xfrm>
          <a:prstGeom prst="rect">
            <a:avLst/>
          </a:prstGeom>
          <a:solidFill>
            <a:srgbClr val="E8FDF8"/>
          </a:solidFill>
          <a:ln w="25400">
            <a:solidFill>
              <a:srgbClr val="14B8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116397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1163977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116397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cs typeface="Calibri" pitchFamily="34" charset="-120"/>
              </a:rPr>
              <a:t>3</a:t>
            </a:r>
          </a:p>
        </p:txBody>
      </p:sp>
      <p:sp>
        <p:nvSpPr>
          <p:cNvPr id="40" name="Shape 38"/>
          <p:cNvSpPr/>
          <p:nvPr/>
        </p:nvSpPr>
        <p:spPr>
          <a:xfrm>
            <a:off x="7178040" y="1163977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116397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89320" y="1666897"/>
            <a:ext cx="548640" cy="438912"/>
          </a:xfrm>
          <a:prstGeom prst="rect">
            <a:avLst/>
          </a:prstGeom>
          <a:solidFill>
            <a:srgbClr val="E8FDF8"/>
          </a:solidFill>
          <a:ln w="25400">
            <a:solidFill>
              <a:srgbClr val="14B8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166689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83680" y="1666897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166689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178040" y="1666897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166689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89320" y="2169817"/>
            <a:ext cx="548640" cy="438912"/>
          </a:xfrm>
          <a:prstGeom prst="rect">
            <a:avLst/>
          </a:prstGeom>
          <a:solidFill>
            <a:srgbClr val="E8FDF8"/>
          </a:solidFill>
          <a:ln w="25400">
            <a:solidFill>
              <a:srgbClr val="14B8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216981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83680" y="2169817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216981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178040" y="2169817"/>
            <a:ext cx="548640" cy="438912"/>
          </a:xfrm>
          <a:prstGeom prst="rect">
            <a:avLst/>
          </a:prstGeom>
          <a:solidFill>
            <a:srgbClr val="E8FDF8"/>
          </a:solidFill>
          <a:ln w="25400">
            <a:solidFill>
              <a:srgbClr val="14B8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216981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A7A"/>
                </a:solidFill>
                <a:latin typeface="Calibri" pitchFamily="34" charset="0"/>
                <a:cs typeface="Calibri" pitchFamily="34" charset="-120"/>
              </a:rPr>
              <a:t>0</a:t>
            </a:r>
          </a:p>
        </p:txBody>
      </p:sp>
      <p:sp>
        <p:nvSpPr>
          <p:cNvPr id="54" name="Shape 52"/>
          <p:cNvSpPr/>
          <p:nvPr/>
        </p:nvSpPr>
        <p:spPr>
          <a:xfrm>
            <a:off x="289784" y="2637912"/>
            <a:ext cx="6400800" cy="3380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4405" y="260886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381685" y="2608865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96085" y="2608865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sum=val+3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484805" y="2608865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Even?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399205" y="260886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[−10,10]?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770805" y="2608865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Zeroed?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4405" y="2956337"/>
            <a:ext cx="109728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4405" y="295633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[0][0]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81685" y="295633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81685" y="29563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96085" y="2956337"/>
            <a:ext cx="118872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96085" y="295633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484805" y="295633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84805" y="29563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399205" y="295633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99205" y="295633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770805" y="2956337"/>
            <a:ext cx="914400" cy="256032"/>
          </a:xfrm>
          <a:prstGeom prst="rect">
            <a:avLst/>
          </a:prstGeom>
          <a:solidFill>
            <a:srgbClr val="E8FDF8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70805" y="29563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84405" y="323065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4405" y="323065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[0][1]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381685" y="323065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81685" y="32306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296085" y="3230657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96085" y="323065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484805" y="323065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84805" y="32306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399205" y="323065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99205" y="323065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770805" y="3230657"/>
            <a:ext cx="914400" cy="256032"/>
          </a:xfrm>
          <a:prstGeom prst="rect">
            <a:avLst/>
          </a:prstGeom>
          <a:solidFill>
            <a:srgbClr val="E8FDF8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70805" y="32306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84405" y="3504977"/>
            <a:ext cx="109728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4405" y="350497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[0][2]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381685" y="35049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381685" y="35049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296085" y="3504977"/>
            <a:ext cx="118872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96085" y="350497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484805" y="35049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484805" y="35049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399205" y="350497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99205" y="350497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770805" y="35049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70805" y="35049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84405" y="377929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4405" y="377929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[1][0]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1381685" y="377929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381685" y="37792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296085" y="3779297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96085" y="377929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484805" y="377929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484805" y="37792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399205" y="377929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99205" y="377929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5770805" y="3779297"/>
            <a:ext cx="914400" cy="256032"/>
          </a:xfrm>
          <a:prstGeom prst="rect">
            <a:avLst/>
          </a:prstGeom>
          <a:solidFill>
            <a:srgbClr val="E8FDF8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770805" y="37792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84405" y="4053617"/>
            <a:ext cx="109728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4405" y="405361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[1][1]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1381685" y="405361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381685" y="405361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296085" y="4053617"/>
            <a:ext cx="118872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96085" y="405361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484805" y="405361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84805" y="405361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399205" y="405361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99205" y="405361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5770805" y="405361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770805" y="405361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284405" y="432793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84405" y="432793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[2][0]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1381685" y="432793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381685" y="43279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296085" y="4327937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296085" y="432793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484805" y="4327937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484805" y="43279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399205" y="432793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399205" y="432793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5770805" y="4327937"/>
            <a:ext cx="914400" cy="256032"/>
          </a:xfrm>
          <a:prstGeom prst="rect">
            <a:avLst/>
          </a:prstGeom>
          <a:solidFill>
            <a:srgbClr val="E8FDF8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770805" y="432793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284405" y="4602257"/>
            <a:ext cx="109728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84405" y="460225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[2][1]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1381685" y="460225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381685" y="46022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296085" y="4602257"/>
            <a:ext cx="118872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96085" y="460225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3484805" y="460225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484805" y="46022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4399205" y="4602257"/>
            <a:ext cx="13716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399205" y="460225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5770805" y="460225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770805" y="460225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6675120" y="3060013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 changed</a:t>
            </a:r>
            <a:endParaRPr lang="en-US" sz="2000" dirty="0"/>
          </a:p>
        </p:txBody>
      </p:sp>
      <p:sp>
        <p:nvSpPr>
          <p:cNvPr id="147" name="Shape 131">
            <a:extLst>
              <a:ext uri="{FF2B5EF4-FFF2-40B4-BE49-F238E27FC236}">
                <a16:creationId xmlns:a16="http://schemas.microsoft.com/office/drawing/2014/main" id="{F772F25A-9658-4120-BC36-2D9A1F526390}"/>
              </a:ext>
            </a:extLst>
          </p:cNvPr>
          <p:cNvSpPr/>
          <p:nvPr/>
        </p:nvSpPr>
        <p:spPr>
          <a:xfrm>
            <a:off x="284405" y="4876577"/>
            <a:ext cx="109728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8" name="Text 132">
            <a:extLst>
              <a:ext uri="{FF2B5EF4-FFF2-40B4-BE49-F238E27FC236}">
                <a16:creationId xmlns:a16="http://schemas.microsoft.com/office/drawing/2014/main" id="{47569B42-9FAB-42AF-99B1-D95D6AC06C69}"/>
              </a:ext>
            </a:extLst>
          </p:cNvPr>
          <p:cNvSpPr/>
          <p:nvPr/>
        </p:nvSpPr>
        <p:spPr>
          <a:xfrm>
            <a:off x="284405" y="487657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[2][2]</a:t>
            </a:r>
            <a:endParaRPr lang="en-US" sz="1000" dirty="0"/>
          </a:p>
        </p:txBody>
      </p:sp>
      <p:sp>
        <p:nvSpPr>
          <p:cNvPr id="149" name="Shape 133">
            <a:extLst>
              <a:ext uri="{FF2B5EF4-FFF2-40B4-BE49-F238E27FC236}">
                <a16:creationId xmlns:a16="http://schemas.microsoft.com/office/drawing/2014/main" id="{7409AB9C-60AC-423D-A7E9-5F75FAFE2AFE}"/>
              </a:ext>
            </a:extLst>
          </p:cNvPr>
          <p:cNvSpPr/>
          <p:nvPr/>
        </p:nvSpPr>
        <p:spPr>
          <a:xfrm>
            <a:off x="1381685" y="48765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0" name="Text 134">
            <a:extLst>
              <a:ext uri="{FF2B5EF4-FFF2-40B4-BE49-F238E27FC236}">
                <a16:creationId xmlns:a16="http://schemas.microsoft.com/office/drawing/2014/main" id="{4F15CA96-BBA4-4C11-B8C5-B5EDDC7D2303}"/>
              </a:ext>
            </a:extLst>
          </p:cNvPr>
          <p:cNvSpPr/>
          <p:nvPr/>
        </p:nvSpPr>
        <p:spPr>
          <a:xfrm>
            <a:off x="1381685" y="48765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1" name="Shape 135">
            <a:extLst>
              <a:ext uri="{FF2B5EF4-FFF2-40B4-BE49-F238E27FC236}">
                <a16:creationId xmlns:a16="http://schemas.microsoft.com/office/drawing/2014/main" id="{E73CB283-EEEE-46C5-A004-5B8FA2B754B7}"/>
              </a:ext>
            </a:extLst>
          </p:cNvPr>
          <p:cNvSpPr/>
          <p:nvPr/>
        </p:nvSpPr>
        <p:spPr>
          <a:xfrm>
            <a:off x="2296085" y="4876577"/>
            <a:ext cx="118872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2" name="Text 136">
            <a:extLst>
              <a:ext uri="{FF2B5EF4-FFF2-40B4-BE49-F238E27FC236}">
                <a16:creationId xmlns:a16="http://schemas.microsoft.com/office/drawing/2014/main" id="{8A337336-94AE-40A9-8816-EE77228828D5}"/>
              </a:ext>
            </a:extLst>
          </p:cNvPr>
          <p:cNvSpPr/>
          <p:nvPr/>
        </p:nvSpPr>
        <p:spPr>
          <a:xfrm>
            <a:off x="2296085" y="487657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3" name="Shape 137">
            <a:extLst>
              <a:ext uri="{FF2B5EF4-FFF2-40B4-BE49-F238E27FC236}">
                <a16:creationId xmlns:a16="http://schemas.microsoft.com/office/drawing/2014/main" id="{B800BD38-0BB4-4C23-85DD-6B037E214693}"/>
              </a:ext>
            </a:extLst>
          </p:cNvPr>
          <p:cNvSpPr/>
          <p:nvPr/>
        </p:nvSpPr>
        <p:spPr>
          <a:xfrm>
            <a:off x="3484805" y="48765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4" name="Text 138">
            <a:extLst>
              <a:ext uri="{FF2B5EF4-FFF2-40B4-BE49-F238E27FC236}">
                <a16:creationId xmlns:a16="http://schemas.microsoft.com/office/drawing/2014/main" id="{99A4E5D7-47F9-4DC8-B566-BA73E49F0535}"/>
              </a:ext>
            </a:extLst>
          </p:cNvPr>
          <p:cNvSpPr/>
          <p:nvPr/>
        </p:nvSpPr>
        <p:spPr>
          <a:xfrm>
            <a:off x="3484805" y="48765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55" name="Shape 139">
            <a:extLst>
              <a:ext uri="{FF2B5EF4-FFF2-40B4-BE49-F238E27FC236}">
                <a16:creationId xmlns:a16="http://schemas.microsoft.com/office/drawing/2014/main" id="{B4E7E169-F708-4063-880A-7E2B8B3EF6AD}"/>
              </a:ext>
            </a:extLst>
          </p:cNvPr>
          <p:cNvSpPr/>
          <p:nvPr/>
        </p:nvSpPr>
        <p:spPr>
          <a:xfrm>
            <a:off x="4399205" y="4876577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6" name="Text 140">
            <a:extLst>
              <a:ext uri="{FF2B5EF4-FFF2-40B4-BE49-F238E27FC236}">
                <a16:creationId xmlns:a16="http://schemas.microsoft.com/office/drawing/2014/main" id="{D5CD0F30-DA74-459E-9FD3-5E61AA4BF08C}"/>
              </a:ext>
            </a:extLst>
          </p:cNvPr>
          <p:cNvSpPr/>
          <p:nvPr/>
        </p:nvSpPr>
        <p:spPr>
          <a:xfrm>
            <a:off x="4399205" y="487657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7" name="Shape 141">
            <a:extLst>
              <a:ext uri="{FF2B5EF4-FFF2-40B4-BE49-F238E27FC236}">
                <a16:creationId xmlns:a16="http://schemas.microsoft.com/office/drawing/2014/main" id="{994A6A9D-2C37-426C-9EE2-36C1E6C20EA4}"/>
              </a:ext>
            </a:extLst>
          </p:cNvPr>
          <p:cNvSpPr/>
          <p:nvPr/>
        </p:nvSpPr>
        <p:spPr>
          <a:xfrm>
            <a:off x="5770805" y="4876577"/>
            <a:ext cx="914400" cy="256032"/>
          </a:xfrm>
          <a:prstGeom prst="rect">
            <a:avLst/>
          </a:prstGeom>
          <a:solidFill>
            <a:srgbClr val="F0F5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8" name="Text 142">
            <a:extLst>
              <a:ext uri="{FF2B5EF4-FFF2-40B4-BE49-F238E27FC236}">
                <a16:creationId xmlns:a16="http://schemas.microsoft.com/office/drawing/2014/main" id="{B1AC1753-B680-480F-8038-AE0A88B0AA8E}"/>
              </a:ext>
            </a:extLst>
          </p:cNvPr>
          <p:cNvSpPr/>
          <p:nvPr/>
        </p:nvSpPr>
        <p:spPr>
          <a:xfrm>
            <a:off x="5770805" y="48765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 (1x1 matrix)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A[</a:t>
            </a:r>
            <a:r>
              <a:rPr lang="en-US" sz="95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][j]=[4], M=2, K=0, L=10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sum=6, even, in range -&gt; A[0][0]=0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Works correctly. Loops run exactly once.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elements get zeroed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13350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All sums are odd OR outside [K, L]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Matrix unchanged, count = 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Output reads: 0 elements have been changed.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get zeroed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26609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Every A[i][j]+M is even and within [K,L]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8803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cell becomes 0, count = N*N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Works correctly, count equals total number of cells.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3172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even sum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6609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A[i][j]=-7, M=3 -&gt; sum=-4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8803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-4 % 2 == 0 -&gt; true -&gt; element is zeroed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 handles negative modulo correctly here.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L  (single-point range)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39867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K=6, L=6 -&gt; only sum==6 qualifies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2062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elements where A[i][j]+M equals exactly 6 are zeroed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480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Works correctly, the range condition is very strict.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0A3D35"/>
          </a:solidFill>
          <a:ln w="12700">
            <a:solidFill>
              <a:srgbClr val="14B8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57600"/>
            <a:ext cx="54864" cy="1188720"/>
          </a:xfrm>
          <a:prstGeom prst="rect">
            <a:avLst/>
          </a:prstGeom>
          <a:solidFill>
            <a:srgbClr val="14B8A4"/>
          </a:solidFill>
          <a:ln w="12700">
            <a:solidFill>
              <a:srgbClr val="14B8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(out of range)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39867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User types 5000 for an element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42062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do-while re-prompts until valid value entered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480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only place in the program where input is validated.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0291"/>
            <a:ext cx="9144000" cy="3262256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623" y="2075157"/>
            <a:ext cx="8229600" cy="1072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866</Words>
  <Application>Microsoft Office PowerPoint</Application>
  <PresentationFormat>Экран (16:9)</PresentationFormat>
  <Paragraphs>171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Array Processing — Task 12</dc:title>
  <dc:subject>PptxGenJS Presentation</dc:subject>
  <dc:creator>Olga Valerianova</dc:creator>
  <cp:lastModifiedBy>Sergey</cp:lastModifiedBy>
  <cp:revision>6</cp:revision>
  <dcterms:created xsi:type="dcterms:W3CDTF">2026-03-27T13:34:01Z</dcterms:created>
  <dcterms:modified xsi:type="dcterms:W3CDTF">2026-03-30T15:21:28Z</dcterms:modified>
</cp:coreProperties>
</file>
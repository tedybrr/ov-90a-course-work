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0068"/>
    <a:srgbClr val="2F02AC"/>
    <a:srgbClr val="82124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562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77973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0"/>
          </a:xfrm>
          <a:prstGeom prst="line">
            <a:avLst/>
          </a:prstGeom>
          <a:noFill/>
          <a:ln w="6350">
            <a:solidFill>
              <a:srgbClr val="1A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0"/>
            <a:ext cx="9144000" cy="0"/>
          </a:xfrm>
          <a:prstGeom prst="line">
            <a:avLst/>
          </a:prstGeom>
          <a:noFill/>
          <a:ln w="6350">
            <a:solidFill>
              <a:srgbClr val="1A3A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463040"/>
            <a:ext cx="9144000" cy="0"/>
          </a:xfrm>
          <a:prstGeom prst="line">
            <a:avLst/>
          </a:prstGeom>
          <a:noFill/>
          <a:ln w="6350">
            <a:solidFill>
              <a:srgbClr val="1A3A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2194560"/>
            <a:ext cx="9144000" cy="0"/>
          </a:xfrm>
          <a:prstGeom prst="line">
            <a:avLst/>
          </a:prstGeom>
          <a:noFill/>
          <a:ln w="6350">
            <a:solidFill>
              <a:srgbClr val="1A3A5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2926080"/>
            <a:ext cx="9144000" cy="0"/>
          </a:xfrm>
          <a:prstGeom prst="line">
            <a:avLst/>
          </a:prstGeom>
          <a:noFill/>
          <a:ln w="6350">
            <a:solidFill>
              <a:srgbClr val="1A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3657600"/>
            <a:ext cx="9144000" cy="0"/>
          </a:xfrm>
          <a:prstGeom prst="line">
            <a:avLst/>
          </a:prstGeom>
          <a:noFill/>
          <a:ln w="6350">
            <a:solidFill>
              <a:srgbClr val="1A3A5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4389120"/>
            <a:ext cx="9144000" cy="0"/>
          </a:xfrm>
          <a:prstGeom prst="line">
            <a:avLst/>
          </a:prstGeom>
          <a:noFill/>
          <a:ln w="6350">
            <a:solidFill>
              <a:srgbClr val="1A3A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0"/>
            <a:ext cx="0" cy="5143500"/>
          </a:xfrm>
          <a:prstGeom prst="line">
            <a:avLst/>
          </a:prstGeom>
          <a:noFill/>
          <a:ln w="6350">
            <a:solidFill>
              <a:srgbClr val="1A3A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0"/>
            <a:ext cx="0" cy="5143500"/>
          </a:xfrm>
          <a:prstGeom prst="line">
            <a:avLst/>
          </a:prstGeom>
          <a:noFill/>
          <a:ln w="6350">
            <a:solidFill>
              <a:srgbClr val="1A3A5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45920" y="0"/>
            <a:ext cx="0" cy="5143500"/>
          </a:xfrm>
          <a:prstGeom prst="line">
            <a:avLst/>
          </a:prstGeom>
          <a:noFill/>
          <a:ln w="6350">
            <a:solidFill>
              <a:srgbClr val="1A3A5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468880" y="0"/>
            <a:ext cx="0" cy="5143500"/>
          </a:xfrm>
          <a:prstGeom prst="line">
            <a:avLst/>
          </a:prstGeom>
          <a:noFill/>
          <a:ln w="6350">
            <a:solidFill>
              <a:srgbClr val="1A3A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91840" y="0"/>
            <a:ext cx="0" cy="5143500"/>
          </a:xfrm>
          <a:prstGeom prst="line">
            <a:avLst/>
          </a:prstGeom>
          <a:noFill/>
          <a:ln w="6350">
            <a:solidFill>
              <a:srgbClr val="1A3A5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0" y="0"/>
            <a:ext cx="0" cy="5143500"/>
          </a:xfrm>
          <a:prstGeom prst="line">
            <a:avLst/>
          </a:prstGeom>
          <a:noFill/>
          <a:ln w="6350">
            <a:solidFill>
              <a:srgbClr val="1A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937760" y="0"/>
            <a:ext cx="0" cy="5143500"/>
          </a:xfrm>
          <a:prstGeom prst="line">
            <a:avLst/>
          </a:prstGeom>
          <a:noFill/>
          <a:ln w="6350">
            <a:solidFill>
              <a:srgbClr val="1A3A5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60720" y="0"/>
            <a:ext cx="0" cy="5143500"/>
          </a:xfrm>
          <a:prstGeom prst="line">
            <a:avLst/>
          </a:prstGeom>
          <a:noFill/>
          <a:ln w="6350">
            <a:solidFill>
              <a:srgbClr val="1A3A5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83680" y="0"/>
            <a:ext cx="0" cy="5143500"/>
          </a:xfrm>
          <a:prstGeom prst="line">
            <a:avLst/>
          </a:prstGeom>
          <a:noFill/>
          <a:ln w="6350">
            <a:solidFill>
              <a:srgbClr val="1A3A5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06640" y="0"/>
            <a:ext cx="0" cy="5143500"/>
          </a:xfrm>
          <a:prstGeom prst="line">
            <a:avLst/>
          </a:prstGeom>
          <a:noFill/>
          <a:ln w="6350">
            <a:solidFill>
              <a:srgbClr val="1A3A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6350">
            <a:solidFill>
              <a:srgbClr val="1A3A5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052560" y="0"/>
            <a:ext cx="0" cy="5143500"/>
          </a:xfrm>
          <a:prstGeom prst="line">
            <a:avLst/>
          </a:prstGeom>
          <a:noFill/>
          <a:ln w="6350">
            <a:solidFill>
              <a:srgbClr val="1A3A5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4226411"/>
            <a:ext cx="9144000" cy="937260"/>
          </a:xfrm>
          <a:prstGeom prst="rect">
            <a:avLst/>
          </a:prstGeom>
          <a:solidFill>
            <a:srgbClr val="0A8A7A"/>
          </a:solidFill>
          <a:ln w="12700">
            <a:solidFill>
              <a:srgbClr val="0A8A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200" y="502920"/>
            <a:ext cx="1463040" cy="347472"/>
          </a:xfrm>
          <a:prstGeom prst="roundRect">
            <a:avLst>
              <a:gd name="adj" fmla="val 26316"/>
            </a:avLst>
          </a:prstGeom>
          <a:solidFill>
            <a:srgbClr val="0A8A7A"/>
          </a:solidFill>
          <a:ln w="12700">
            <a:solidFill>
              <a:srgbClr val="0A8A7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5029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TASK 12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1005840"/>
            <a:ext cx="6400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 Array Processing</a:t>
            </a:r>
            <a:endParaRPr lang="en-US" sz="4400" dirty="0"/>
          </a:p>
        </p:txBody>
      </p:sp>
      <p:sp>
        <p:nvSpPr>
          <p:cNvPr id="25" name="Text 23"/>
          <p:cNvSpPr/>
          <p:nvPr/>
        </p:nvSpPr>
        <p:spPr>
          <a:xfrm>
            <a:off x="457200" y="187452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4B8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457200" y="256032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 array elements to zero based on a conditional sum rule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57200" y="4251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Olga Valerianova  ·  Applied Informatics · group 90A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8EE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Task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841248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05840"/>
            <a:ext cx="64008" cy="2926080"/>
          </a:xfrm>
          <a:prstGeom prst="rect">
            <a:avLst/>
          </a:prstGeom>
          <a:solidFill>
            <a:srgbClr val="0A8A7A"/>
          </a:solidFill>
          <a:ln w="12700">
            <a:solidFill>
              <a:srgbClr val="0A8A7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09728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Given: </a:t>
            </a:r>
            <a:r>
              <a:rPr lang="en-US" sz="15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square matrix A[N][N] of integers in [-1000, 1000]
</a:t>
            </a:r>
            <a:r>
              <a:rPr lang="en-US" sz="15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Actions required:
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993392"/>
            <a:ext cx="274320" cy="274320"/>
          </a:xfrm>
          <a:prstGeom prst="roundRect">
            <a:avLst>
              <a:gd name="adj" fmla="val 26667"/>
            </a:avLst>
          </a:prstGeom>
          <a:solidFill>
            <a:srgbClr val="0A8A7A"/>
          </a:solidFill>
          <a:ln w="12700">
            <a:solidFill>
              <a:srgbClr val="0A8A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9933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32688" y="2011680"/>
            <a:ext cx="7498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the task instructions and the author's name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66928" y="2359152"/>
            <a:ext cx="274320" cy="274320"/>
          </a:xfrm>
          <a:prstGeom prst="roundRect">
            <a:avLst>
              <a:gd name="adj" fmla="val 26667"/>
            </a:avLst>
          </a:prstGeom>
          <a:solidFill>
            <a:srgbClr val="0A8A7A"/>
          </a:solidFill>
          <a:ln w="12700">
            <a:solidFill>
              <a:srgbClr val="0A8A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23591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32688" y="2377440"/>
            <a:ext cx="7498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and display the matrix A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66928" y="2724912"/>
            <a:ext cx="274320" cy="274320"/>
          </a:xfrm>
          <a:prstGeom prst="roundRect">
            <a:avLst>
              <a:gd name="adj" fmla="val 26667"/>
            </a:avLst>
          </a:prstGeom>
          <a:solidFill>
            <a:srgbClr val="0A8A7A"/>
          </a:solidFill>
          <a:ln w="12700">
            <a:solidFill>
              <a:srgbClr val="0A8A7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27249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32688" y="2743200"/>
            <a:ext cx="7498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inputs M, K, L from the user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3090672"/>
            <a:ext cx="274320" cy="274320"/>
          </a:xfrm>
          <a:prstGeom prst="roundRect">
            <a:avLst>
              <a:gd name="adj" fmla="val 26667"/>
            </a:avLst>
          </a:prstGeom>
          <a:solidFill>
            <a:srgbClr val="0A8A7A"/>
          </a:solidFill>
          <a:ln w="12700">
            <a:solidFill>
              <a:srgbClr val="0A8A7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30906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32688" y="3108960"/>
            <a:ext cx="7498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A[i][j] = 0 if  (A[i][j] + M)  is even  AND  falls within [K, L]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66928" y="3456432"/>
            <a:ext cx="274320" cy="274320"/>
          </a:xfrm>
          <a:prstGeom prst="roundRect">
            <a:avLst>
              <a:gd name="adj" fmla="val 26667"/>
            </a:avLst>
          </a:prstGeom>
          <a:solidFill>
            <a:srgbClr val="0A8A7A"/>
          </a:solidFill>
          <a:ln w="12700">
            <a:solidFill>
              <a:srgbClr val="0A8A7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34564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32688" y="3474720"/>
            <a:ext cx="7498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and display the number of modified elements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8EE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Logic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737360" y="960120"/>
            <a:ext cx="5669280" cy="457200"/>
          </a:xfrm>
          <a:prstGeom prst="rect">
            <a:avLst/>
          </a:prstGeom>
          <a:solidFill>
            <a:srgbClr val="0A8A7A"/>
          </a:solidFill>
          <a:ln w="12700">
            <a:solidFill>
              <a:srgbClr val="AABB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737360" y="96012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0" y="1417320"/>
            <a:ext cx="0" cy="91440"/>
          </a:xfrm>
          <a:prstGeom prst="line">
            <a:avLst/>
          </a:prstGeom>
          <a:noFill/>
          <a:ln w="25400">
            <a:solidFill>
              <a:srgbClr val="0A8A7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737360" y="1508760"/>
            <a:ext cx="56692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AABBCC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737360" y="150876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N → declare A[N][N]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0" y="1965960"/>
            <a:ext cx="0" cy="91440"/>
          </a:xfrm>
          <a:prstGeom prst="line">
            <a:avLst/>
          </a:prstGeom>
          <a:noFill/>
          <a:ln w="25400">
            <a:solidFill>
              <a:srgbClr val="0A8A7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37360" y="2057400"/>
            <a:ext cx="56692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AABBCC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737360" y="205740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each element with validation ∈ [-1000,1000]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0" y="2514600"/>
            <a:ext cx="0" cy="91440"/>
          </a:xfrm>
          <a:prstGeom prst="line">
            <a:avLst/>
          </a:prstGeom>
          <a:noFill/>
          <a:ln w="25400">
            <a:solidFill>
              <a:srgbClr val="0A8A7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737360" y="2606040"/>
            <a:ext cx="56692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AABBCC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737360" y="260604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M, K, L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0" y="3063240"/>
            <a:ext cx="0" cy="91440"/>
          </a:xfrm>
          <a:prstGeom prst="line">
            <a:avLst/>
          </a:prstGeom>
          <a:noFill/>
          <a:ln w="25400">
            <a:solidFill>
              <a:srgbClr val="0A8A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154680"/>
            <a:ext cx="56692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AABBCC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737360" y="315468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A[i][j]: compute sum = A[i][j] + M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572000" y="3611880"/>
            <a:ext cx="0" cy="91440"/>
          </a:xfrm>
          <a:prstGeom prst="line">
            <a:avLst/>
          </a:prstGeom>
          <a:noFill/>
          <a:ln w="25400">
            <a:solidFill>
              <a:srgbClr val="0A8A7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37360" y="3703320"/>
            <a:ext cx="5669280" cy="457200"/>
          </a:xfrm>
          <a:prstGeom prst="rect">
            <a:avLst/>
          </a:prstGeom>
          <a:solidFill>
            <a:srgbClr val="FFF3CD"/>
          </a:solidFill>
          <a:ln w="12700">
            <a:solidFill>
              <a:srgbClr val="AABBCC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737360" y="370332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 even AND K ≤ sum ≤ L?  →  A[i][j] = 0,  count++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572000" y="4160520"/>
            <a:ext cx="0" cy="91440"/>
          </a:xfrm>
          <a:prstGeom prst="line">
            <a:avLst/>
          </a:prstGeom>
          <a:noFill/>
          <a:ln w="25400">
            <a:solidFill>
              <a:srgbClr val="0A8A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737360" y="4251960"/>
            <a:ext cx="5669280" cy="457200"/>
          </a:xfrm>
          <a:prstGeom prst="rect">
            <a:avLst/>
          </a:prstGeom>
          <a:solidFill>
            <a:srgbClr val="0A8A7A"/>
          </a:solidFill>
          <a:ln w="12700">
            <a:solidFill>
              <a:srgbClr val="AABB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737360" y="425196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modified matrix + count → END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274320" y="914399"/>
            <a:ext cx="1325880" cy="3866029"/>
          </a:xfrm>
          <a:prstGeom prst="rect">
            <a:avLst/>
          </a:prstGeom>
          <a:solidFill>
            <a:srgbClr val="EAF4F2"/>
          </a:solidFill>
          <a:ln w="12700">
            <a:solidFill>
              <a:srgbClr val="14B8A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" y="96012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A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A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74320" y="1508760"/>
            <a:ext cx="1325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74320" y="2054442"/>
            <a:ext cx="1325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74320" y="2606040"/>
            <a:ext cx="1325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74320" y="3157638"/>
            <a:ext cx="1325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274320" y="3703319"/>
            <a:ext cx="1325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274320" y="4251960"/>
            <a:ext cx="1325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A8A7A"/>
          </a:solidFill>
          <a:ln w="12700">
            <a:solidFill>
              <a:srgbClr val="0A8A7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Code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914400"/>
            <a:ext cx="502920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&lt;stdio.h&gt;
</a:t>
            </a: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</a:t>
            </a: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main() {
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 </a:t>
            </a: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050" dirty="0">
              <a:solidFill>
                <a:srgbClr val="6A9955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 err="1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printf</a:t>
            </a: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“Enter matrix dimensions: ”</a:t>
            </a: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</a:p>
          <a:p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 err="1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scanf</a:t>
            </a: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"%d"</a:t>
            </a: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&amp;n);</a:t>
            </a:r>
          </a:p>
          <a:p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 </a:t>
            </a: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a[n][n];</a:t>
            </a:r>
            <a:endParaRPr lang="en-US" sz="1050" dirty="0">
              <a:solidFill>
                <a:schemeClr val="bg1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 marL="0" indent="0"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</a:t>
            </a: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m, k, l, count = 0;</a:t>
            </a: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Input + validate each element
</a:t>
            </a: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</a:t>
            </a: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scanf("%d", &amp;a[i][j]);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 </a:t>
            </a: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</a:t>
            </a: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(!(a[i][j]&gt;=-1000 &amp;&amp; a[i][j]&lt;=1000));
</a:t>
            </a: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Modify condition
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 </a:t>
            </a: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 = a[i][j] + m;
</a:t>
            </a: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</a:t>
            </a: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(sum % 2 == 0 &amp;&amp; sum &gt;= k &amp;&amp; sum &lt;= l) {
    a[i][j] =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</a:t>
            </a:r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count++;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486400" y="960120"/>
            <a:ext cx="3383280" cy="896112"/>
          </a:xfrm>
          <a:prstGeom prst="rect">
            <a:avLst/>
          </a:prstGeom>
          <a:solidFill>
            <a:srgbClr val="132035"/>
          </a:solidFill>
          <a:ln w="12700">
            <a:solidFill>
              <a:srgbClr val="14B8A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0" y="960120"/>
            <a:ext cx="54864" cy="896112"/>
          </a:xfrm>
          <a:prstGeom prst="rect">
            <a:avLst/>
          </a:prstGeom>
          <a:solidFill>
            <a:srgbClr val="14B8A4"/>
          </a:solidFill>
          <a:ln w="12700">
            <a:solidFill>
              <a:srgbClr val="14B8A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596128" y="1005840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Variable-Length Array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596128" y="1261872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 a[n][n] allocates the matrix on the stack with user-supplied size N: </a:t>
            </a:r>
            <a:r>
              <a:rPr lang="en-US" sz="950" dirty="0" err="1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scanf</a:t>
            </a:r>
            <a:r>
              <a:rPr lang="en-US" sz="95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(“%d”, &amp;n).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486400" y="1965960"/>
            <a:ext cx="3383280" cy="896112"/>
          </a:xfrm>
          <a:prstGeom prst="rect">
            <a:avLst/>
          </a:prstGeom>
          <a:solidFill>
            <a:srgbClr val="132035"/>
          </a:solidFill>
          <a:ln w="12700">
            <a:solidFill>
              <a:srgbClr val="14B8A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0" y="1965960"/>
            <a:ext cx="54864" cy="896112"/>
          </a:xfrm>
          <a:prstGeom prst="rect">
            <a:avLst/>
          </a:prstGeom>
          <a:solidFill>
            <a:srgbClr val="14B8A4"/>
          </a:solidFill>
          <a:ln w="12700">
            <a:solidFill>
              <a:srgbClr val="14B8A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596128" y="2011680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Validation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596128" y="2267712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do-while re-prompts the user until the entered value is within [-1000, 1000].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486400" y="2971800"/>
            <a:ext cx="3383280" cy="896112"/>
          </a:xfrm>
          <a:prstGeom prst="rect">
            <a:avLst/>
          </a:prstGeom>
          <a:solidFill>
            <a:srgbClr val="132035"/>
          </a:solidFill>
          <a:ln w="12700">
            <a:solidFill>
              <a:srgbClr val="14B8A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0" y="2971800"/>
            <a:ext cx="54864" cy="896112"/>
          </a:xfrm>
          <a:prstGeom prst="rect">
            <a:avLst/>
          </a:prstGeom>
          <a:solidFill>
            <a:srgbClr val="14B8A4"/>
          </a:solidFill>
          <a:ln w="12700">
            <a:solidFill>
              <a:srgbClr val="14B8A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596128" y="3017520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Condition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596128" y="3273552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 % 2 == 0 checks evenness. Range check ensures sum ∈ [K, L]. Both </a:t>
            </a:r>
            <a:r>
              <a:rPr lang="en-US" sz="950" b="1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</a:t>
            </a:r>
            <a:r>
              <a:rPr lang="en-US" sz="95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hold.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486400" y="3977640"/>
            <a:ext cx="3383280" cy="896112"/>
          </a:xfrm>
          <a:prstGeom prst="rect">
            <a:avLst/>
          </a:prstGeom>
          <a:solidFill>
            <a:srgbClr val="132035"/>
          </a:solidFill>
          <a:ln w="12700">
            <a:solidFill>
              <a:srgbClr val="14B8A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0" y="3977640"/>
            <a:ext cx="54864" cy="896112"/>
          </a:xfrm>
          <a:prstGeom prst="rect">
            <a:avLst/>
          </a:prstGeom>
          <a:solidFill>
            <a:srgbClr val="14B8A4"/>
          </a:solidFill>
          <a:ln w="12700">
            <a:solidFill>
              <a:srgbClr val="14B8A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596128" y="4023360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596128" y="4279392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count++ tracks how many elements were zeroed, reported at the end.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8EE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1054249"/>
            <a:ext cx="25603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1054249"/>
            <a:ext cx="2560320" cy="347472"/>
          </a:xfrm>
          <a:prstGeom prst="rect">
            <a:avLst/>
          </a:prstGeom>
          <a:solidFill>
            <a:srgbClr val="0A8A7A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11480" y="1498002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43000" y="1484017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" y="1751345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43000" y="1758337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34340" y="2011680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43000" y="2032657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34340" y="2297833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=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43000" y="2306977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926080" y="884816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Matrix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991971" y="1155909"/>
            <a:ext cx="5486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AABBC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991971" y="1155909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586331" y="1155909"/>
            <a:ext cx="5486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AABBC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86331" y="1155909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180691" y="1155909"/>
            <a:ext cx="5486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AABB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80691" y="1155909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991971" y="1658829"/>
            <a:ext cx="5486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AABBC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991971" y="1658829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586331" y="1658829"/>
            <a:ext cx="5486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AABBC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86331" y="1658829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180691" y="1658829"/>
            <a:ext cx="5486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AABB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180691" y="1658829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991971" y="2161749"/>
            <a:ext cx="5486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AABBC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991971" y="2161749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586331" y="2161749"/>
            <a:ext cx="5486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AABBC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586331" y="2161749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180691" y="2161749"/>
            <a:ext cx="5486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AABB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80691" y="2161749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085005" y="1666897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A8A7A"/>
                </a:solidFill>
              </a:rPr>
              <a:t>→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5943600" y="885085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Modified Matrix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89320" y="1163977"/>
            <a:ext cx="548640" cy="438912"/>
          </a:xfrm>
          <a:prstGeom prst="rect">
            <a:avLst/>
          </a:prstGeom>
          <a:solidFill>
            <a:srgbClr val="E8FDF8"/>
          </a:solidFill>
          <a:ln w="25400">
            <a:solidFill>
              <a:srgbClr val="14B8A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89320" y="1163977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A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583680" y="1163977"/>
            <a:ext cx="548640" cy="438912"/>
          </a:xfrm>
          <a:prstGeom prst="rect">
            <a:avLst/>
          </a:prstGeom>
          <a:solidFill>
            <a:srgbClr val="E8FDF8"/>
          </a:solidFill>
          <a:ln w="25400">
            <a:solidFill>
              <a:srgbClr val="14B8A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83680" y="1163977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00" b="1" dirty="0">
                <a:solidFill>
                  <a:srgbClr val="0A8A7A"/>
                </a:solidFill>
                <a:latin typeface="Calibri" pitchFamily="34" charset="0"/>
                <a:cs typeface="Calibri" pitchFamily="34" charset="-120"/>
              </a:rPr>
              <a:t>3</a:t>
            </a:r>
          </a:p>
        </p:txBody>
      </p:sp>
      <p:sp>
        <p:nvSpPr>
          <p:cNvPr id="40" name="Shape 38"/>
          <p:cNvSpPr/>
          <p:nvPr/>
        </p:nvSpPr>
        <p:spPr>
          <a:xfrm>
            <a:off x="7178040" y="1163977"/>
            <a:ext cx="5486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AABB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78040" y="1163977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89320" y="1666897"/>
            <a:ext cx="548640" cy="438912"/>
          </a:xfrm>
          <a:prstGeom prst="rect">
            <a:avLst/>
          </a:prstGeom>
          <a:solidFill>
            <a:srgbClr val="E8FDF8"/>
          </a:solidFill>
          <a:ln w="25400">
            <a:solidFill>
              <a:srgbClr val="14B8A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989320" y="1666897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A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6583680" y="1666897"/>
            <a:ext cx="5486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AABBC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583680" y="1666897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7178040" y="1666897"/>
            <a:ext cx="5486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AABBC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178040" y="1666897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5989320" y="2169817"/>
            <a:ext cx="548640" cy="438912"/>
          </a:xfrm>
          <a:prstGeom prst="rect">
            <a:avLst/>
          </a:prstGeom>
          <a:solidFill>
            <a:srgbClr val="E8FDF8"/>
          </a:solidFill>
          <a:ln w="25400">
            <a:solidFill>
              <a:srgbClr val="14B8A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989320" y="2169817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A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6583680" y="2169817"/>
            <a:ext cx="5486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AABBC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83680" y="2169817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7178040" y="2169817"/>
            <a:ext cx="5486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AABBCC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78040" y="2169817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latin typeface="Calibri" pitchFamily="34" charset="0"/>
                <a:cs typeface="Calibri" pitchFamily="34" charset="-120"/>
              </a:rPr>
              <a:t>0</a:t>
            </a:r>
          </a:p>
        </p:txBody>
      </p:sp>
      <p:sp>
        <p:nvSpPr>
          <p:cNvPr id="54" name="Shape 52"/>
          <p:cNvSpPr/>
          <p:nvPr/>
        </p:nvSpPr>
        <p:spPr>
          <a:xfrm>
            <a:off x="289784" y="2637912"/>
            <a:ext cx="6400800" cy="33806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84405" y="2608865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1381685" y="2608865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2296085" y="2608865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sum=val+3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3484805" y="2608865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Even?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4399205" y="2608865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[−10,10]?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770805" y="2608865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Zeroed?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284405" y="2956337"/>
            <a:ext cx="1097280" cy="256032"/>
          </a:xfrm>
          <a:prstGeom prst="rect">
            <a:avLst/>
          </a:prstGeom>
          <a:solidFill>
            <a:srgbClr val="F0F5FA"/>
          </a:solidFill>
          <a:ln w="6350">
            <a:solidFill>
              <a:srgbClr val="CCDDE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84405" y="2956337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[0][0]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1381685" y="2956337"/>
            <a:ext cx="914400" cy="256032"/>
          </a:xfrm>
          <a:prstGeom prst="rect">
            <a:avLst/>
          </a:prstGeom>
          <a:solidFill>
            <a:srgbClr val="F0F5FA"/>
          </a:solidFill>
          <a:ln w="6350">
            <a:solidFill>
              <a:srgbClr val="CCDDE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381685" y="2956337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2296085" y="2956337"/>
            <a:ext cx="1188720" cy="256032"/>
          </a:xfrm>
          <a:prstGeom prst="rect">
            <a:avLst/>
          </a:prstGeom>
          <a:solidFill>
            <a:srgbClr val="F0F5FA"/>
          </a:solidFill>
          <a:ln w="6350">
            <a:solidFill>
              <a:srgbClr val="CCDDE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2296085" y="2956337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3484805" y="2956337"/>
            <a:ext cx="9144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CCDDE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484805" y="2956337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A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399205" y="2956337"/>
            <a:ext cx="1371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CCDDE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399205" y="2956337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A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770805" y="2956337"/>
            <a:ext cx="914400" cy="256032"/>
          </a:xfrm>
          <a:prstGeom prst="rect">
            <a:avLst/>
          </a:prstGeom>
          <a:solidFill>
            <a:srgbClr val="E8FDF8"/>
          </a:solidFill>
          <a:ln w="6350">
            <a:solidFill>
              <a:srgbClr val="CCDDE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770805" y="2956337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A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284405" y="3230657"/>
            <a:ext cx="10972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CCDDE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284405" y="3230657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[0][1]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1381685" y="3230657"/>
            <a:ext cx="9144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CCDDE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381685" y="3230657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2296085" y="3230657"/>
            <a:ext cx="118872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CCDDE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2296085" y="3230657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3484805" y="3230657"/>
            <a:ext cx="9144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CCDDE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3484805" y="3230657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A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4399205" y="3230657"/>
            <a:ext cx="1371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CCDDE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399205" y="3230657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A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5770805" y="3230657"/>
            <a:ext cx="914400" cy="256032"/>
          </a:xfrm>
          <a:prstGeom prst="rect">
            <a:avLst/>
          </a:prstGeom>
          <a:solidFill>
            <a:srgbClr val="E8FDF8"/>
          </a:solidFill>
          <a:ln w="6350">
            <a:solidFill>
              <a:srgbClr val="CCDDE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770805" y="3230657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A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284405" y="3504977"/>
            <a:ext cx="1097280" cy="256032"/>
          </a:xfrm>
          <a:prstGeom prst="rect">
            <a:avLst/>
          </a:prstGeom>
          <a:solidFill>
            <a:srgbClr val="F0F5FA"/>
          </a:solidFill>
          <a:ln w="6350">
            <a:solidFill>
              <a:srgbClr val="CCDDE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284405" y="3504977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[0][2]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1381685" y="3504977"/>
            <a:ext cx="914400" cy="256032"/>
          </a:xfrm>
          <a:prstGeom prst="rect">
            <a:avLst/>
          </a:prstGeom>
          <a:solidFill>
            <a:srgbClr val="F0F5FA"/>
          </a:solidFill>
          <a:ln w="6350">
            <a:solidFill>
              <a:srgbClr val="CCDDE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1381685" y="3504977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2296085" y="3504977"/>
            <a:ext cx="1188720" cy="256032"/>
          </a:xfrm>
          <a:prstGeom prst="rect">
            <a:avLst/>
          </a:prstGeom>
          <a:solidFill>
            <a:srgbClr val="F0F5FA"/>
          </a:solidFill>
          <a:ln w="6350">
            <a:solidFill>
              <a:srgbClr val="CCDDE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2296085" y="3504977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3484805" y="3504977"/>
            <a:ext cx="914400" cy="256032"/>
          </a:xfrm>
          <a:prstGeom prst="rect">
            <a:avLst/>
          </a:prstGeom>
          <a:solidFill>
            <a:srgbClr val="F0F5FA"/>
          </a:solidFill>
          <a:ln w="6350">
            <a:solidFill>
              <a:srgbClr val="CCDDE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3484805" y="3504977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C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4399205" y="3504977"/>
            <a:ext cx="1371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CCDDE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399205" y="3504977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A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5770805" y="3504977"/>
            <a:ext cx="914400" cy="256032"/>
          </a:xfrm>
          <a:prstGeom prst="rect">
            <a:avLst/>
          </a:prstGeom>
          <a:solidFill>
            <a:srgbClr val="F0F5FA"/>
          </a:solidFill>
          <a:ln w="6350">
            <a:solidFill>
              <a:srgbClr val="CCDDE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770805" y="3504977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C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284405" y="3779297"/>
            <a:ext cx="10972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CCDDE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284405" y="3779297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[1][0]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1381685" y="3779297"/>
            <a:ext cx="9144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CCDDE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1381685" y="3779297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2296085" y="3779297"/>
            <a:ext cx="118872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CCDDE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2296085" y="3779297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3484805" y="3779297"/>
            <a:ext cx="9144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CCDDE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3484805" y="3779297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A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4399205" y="3779297"/>
            <a:ext cx="1371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CCDDE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4399205" y="3779297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A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5770805" y="3779297"/>
            <a:ext cx="914400" cy="256032"/>
          </a:xfrm>
          <a:prstGeom prst="rect">
            <a:avLst/>
          </a:prstGeom>
          <a:solidFill>
            <a:srgbClr val="E8FDF8"/>
          </a:solidFill>
          <a:ln w="6350">
            <a:solidFill>
              <a:srgbClr val="CCDDE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5770805" y="3779297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A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284405" y="4053617"/>
            <a:ext cx="1097280" cy="256032"/>
          </a:xfrm>
          <a:prstGeom prst="rect">
            <a:avLst/>
          </a:prstGeom>
          <a:solidFill>
            <a:srgbClr val="F0F5FA"/>
          </a:solidFill>
          <a:ln w="6350">
            <a:solidFill>
              <a:srgbClr val="CCDDE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284405" y="4053617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[1][1]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1381685" y="4053617"/>
            <a:ext cx="914400" cy="256032"/>
          </a:xfrm>
          <a:prstGeom prst="rect">
            <a:avLst/>
          </a:prstGeom>
          <a:solidFill>
            <a:srgbClr val="F0F5FA"/>
          </a:solidFill>
          <a:ln w="6350">
            <a:solidFill>
              <a:srgbClr val="CCDDE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1381685" y="4053617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13" name="Shape 111"/>
          <p:cNvSpPr/>
          <p:nvPr/>
        </p:nvSpPr>
        <p:spPr>
          <a:xfrm>
            <a:off x="2296085" y="4053617"/>
            <a:ext cx="1188720" cy="256032"/>
          </a:xfrm>
          <a:prstGeom prst="rect">
            <a:avLst/>
          </a:prstGeom>
          <a:solidFill>
            <a:srgbClr val="F0F5FA"/>
          </a:solidFill>
          <a:ln w="6350">
            <a:solidFill>
              <a:srgbClr val="CCDDEE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2296085" y="4053617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3484805" y="4053617"/>
            <a:ext cx="914400" cy="256032"/>
          </a:xfrm>
          <a:prstGeom prst="rect">
            <a:avLst/>
          </a:prstGeom>
          <a:solidFill>
            <a:srgbClr val="F0F5FA"/>
          </a:solidFill>
          <a:ln w="6350">
            <a:solidFill>
              <a:srgbClr val="CCDDEE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3484805" y="4053617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C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4399205" y="4053617"/>
            <a:ext cx="1371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CCDDEE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4399205" y="4053617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A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19" name="Shape 117"/>
          <p:cNvSpPr/>
          <p:nvPr/>
        </p:nvSpPr>
        <p:spPr>
          <a:xfrm>
            <a:off x="5770805" y="4053617"/>
            <a:ext cx="914400" cy="256032"/>
          </a:xfrm>
          <a:prstGeom prst="rect">
            <a:avLst/>
          </a:prstGeom>
          <a:solidFill>
            <a:srgbClr val="F0F5FA"/>
          </a:solidFill>
          <a:ln w="6350">
            <a:solidFill>
              <a:srgbClr val="CCDDEE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5770805" y="4053617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C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284405" y="4327937"/>
            <a:ext cx="10972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CCDDEE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284405" y="4327937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[2][0]</a:t>
            </a:r>
            <a:endParaRPr lang="en-US" sz="1000" dirty="0"/>
          </a:p>
        </p:txBody>
      </p:sp>
      <p:sp>
        <p:nvSpPr>
          <p:cNvPr id="123" name="Shape 121"/>
          <p:cNvSpPr/>
          <p:nvPr/>
        </p:nvSpPr>
        <p:spPr>
          <a:xfrm>
            <a:off x="1381685" y="4327937"/>
            <a:ext cx="9144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CCDDEE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1381685" y="4327937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25" name="Shape 123"/>
          <p:cNvSpPr/>
          <p:nvPr/>
        </p:nvSpPr>
        <p:spPr>
          <a:xfrm>
            <a:off x="2296085" y="4327937"/>
            <a:ext cx="118872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CCDDEE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2296085" y="4327937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27" name="Shape 125"/>
          <p:cNvSpPr/>
          <p:nvPr/>
        </p:nvSpPr>
        <p:spPr>
          <a:xfrm>
            <a:off x="3484805" y="4327937"/>
            <a:ext cx="9144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CCDDEE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3484805" y="4327937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A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29" name="Shape 127"/>
          <p:cNvSpPr/>
          <p:nvPr/>
        </p:nvSpPr>
        <p:spPr>
          <a:xfrm>
            <a:off x="4399205" y="4327937"/>
            <a:ext cx="1371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CCDDEE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4399205" y="4327937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A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31" name="Shape 129"/>
          <p:cNvSpPr/>
          <p:nvPr/>
        </p:nvSpPr>
        <p:spPr>
          <a:xfrm>
            <a:off x="5770805" y="4327937"/>
            <a:ext cx="914400" cy="256032"/>
          </a:xfrm>
          <a:prstGeom prst="rect">
            <a:avLst/>
          </a:prstGeom>
          <a:solidFill>
            <a:srgbClr val="E8FDF8"/>
          </a:solidFill>
          <a:ln w="6350">
            <a:solidFill>
              <a:srgbClr val="CCDDEE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5770805" y="4327937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A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33" name="Shape 131"/>
          <p:cNvSpPr/>
          <p:nvPr/>
        </p:nvSpPr>
        <p:spPr>
          <a:xfrm>
            <a:off x="284405" y="4602257"/>
            <a:ext cx="1097280" cy="256032"/>
          </a:xfrm>
          <a:prstGeom prst="rect">
            <a:avLst/>
          </a:prstGeom>
          <a:solidFill>
            <a:srgbClr val="F0F5FA"/>
          </a:solidFill>
          <a:ln w="6350">
            <a:solidFill>
              <a:srgbClr val="CCDDEE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284405" y="4602257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[2][1]</a:t>
            </a:r>
            <a:endParaRPr lang="en-US" sz="1000" dirty="0"/>
          </a:p>
        </p:txBody>
      </p:sp>
      <p:sp>
        <p:nvSpPr>
          <p:cNvPr id="135" name="Shape 133"/>
          <p:cNvSpPr/>
          <p:nvPr/>
        </p:nvSpPr>
        <p:spPr>
          <a:xfrm>
            <a:off x="1381685" y="4602257"/>
            <a:ext cx="914400" cy="256032"/>
          </a:xfrm>
          <a:prstGeom prst="rect">
            <a:avLst/>
          </a:prstGeom>
          <a:solidFill>
            <a:srgbClr val="F0F5FA"/>
          </a:solidFill>
          <a:ln w="6350">
            <a:solidFill>
              <a:srgbClr val="CCDDEE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1381685" y="4602257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137" name="Shape 135"/>
          <p:cNvSpPr/>
          <p:nvPr/>
        </p:nvSpPr>
        <p:spPr>
          <a:xfrm>
            <a:off x="2296085" y="4602257"/>
            <a:ext cx="1188720" cy="256032"/>
          </a:xfrm>
          <a:prstGeom prst="rect">
            <a:avLst/>
          </a:prstGeom>
          <a:solidFill>
            <a:srgbClr val="F0F5FA"/>
          </a:solidFill>
          <a:ln w="6350">
            <a:solidFill>
              <a:srgbClr val="CCDDEE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2296085" y="4602257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139" name="Shape 137"/>
          <p:cNvSpPr/>
          <p:nvPr/>
        </p:nvSpPr>
        <p:spPr>
          <a:xfrm>
            <a:off x="3484805" y="4602257"/>
            <a:ext cx="914400" cy="256032"/>
          </a:xfrm>
          <a:prstGeom prst="rect">
            <a:avLst/>
          </a:prstGeom>
          <a:solidFill>
            <a:srgbClr val="F0F5FA"/>
          </a:solidFill>
          <a:ln w="6350">
            <a:solidFill>
              <a:srgbClr val="CCDDEE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3484805" y="4602257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dirty="0">
                <a:solidFill>
                  <a:srgbClr val="CC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000" dirty="0"/>
          </a:p>
        </p:txBody>
      </p:sp>
      <p:sp>
        <p:nvSpPr>
          <p:cNvPr id="141" name="Shape 139"/>
          <p:cNvSpPr/>
          <p:nvPr/>
        </p:nvSpPr>
        <p:spPr>
          <a:xfrm>
            <a:off x="4399205" y="4602257"/>
            <a:ext cx="1371600" cy="256032"/>
          </a:xfrm>
          <a:prstGeom prst="rect">
            <a:avLst/>
          </a:prstGeom>
          <a:solidFill>
            <a:srgbClr val="F0F5FA"/>
          </a:solidFill>
          <a:ln w="6350">
            <a:solidFill>
              <a:srgbClr val="CCDDEE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4399205" y="4602257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C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000" dirty="0"/>
          </a:p>
        </p:txBody>
      </p:sp>
      <p:sp>
        <p:nvSpPr>
          <p:cNvPr id="143" name="Shape 141"/>
          <p:cNvSpPr/>
          <p:nvPr/>
        </p:nvSpPr>
        <p:spPr>
          <a:xfrm>
            <a:off x="5770805" y="4602257"/>
            <a:ext cx="914400" cy="256032"/>
          </a:xfrm>
          <a:prstGeom prst="rect">
            <a:avLst/>
          </a:prstGeom>
          <a:solidFill>
            <a:srgbClr val="F0F5FA"/>
          </a:solidFill>
          <a:ln w="6350">
            <a:solidFill>
              <a:srgbClr val="CCDDEE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5770805" y="4602257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C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000" dirty="0"/>
          </a:p>
        </p:txBody>
      </p:sp>
      <p:sp>
        <p:nvSpPr>
          <p:cNvPr id="145" name="Text 143"/>
          <p:cNvSpPr/>
          <p:nvPr/>
        </p:nvSpPr>
        <p:spPr>
          <a:xfrm>
            <a:off x="6675120" y="3060013"/>
            <a:ext cx="23774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A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elements changed</a:t>
            </a:r>
            <a:endParaRPr lang="en-US" sz="2000" dirty="0"/>
          </a:p>
        </p:txBody>
      </p:sp>
      <p:sp>
        <p:nvSpPr>
          <p:cNvPr id="147" name="Shape 131">
            <a:extLst>
              <a:ext uri="{FF2B5EF4-FFF2-40B4-BE49-F238E27FC236}">
                <a16:creationId xmlns:a16="http://schemas.microsoft.com/office/drawing/2014/main" id="{F772F25A-9658-4120-BC36-2D9A1F526390}"/>
              </a:ext>
            </a:extLst>
          </p:cNvPr>
          <p:cNvSpPr/>
          <p:nvPr/>
        </p:nvSpPr>
        <p:spPr>
          <a:xfrm>
            <a:off x="284405" y="4876577"/>
            <a:ext cx="1097280" cy="256032"/>
          </a:xfrm>
          <a:prstGeom prst="rect">
            <a:avLst/>
          </a:prstGeom>
          <a:solidFill>
            <a:srgbClr val="F0F5FA"/>
          </a:solidFill>
          <a:ln w="6350">
            <a:solidFill>
              <a:srgbClr val="CCDDEE"/>
            </a:solidFill>
            <a:prstDash val="solid"/>
          </a:ln>
        </p:spPr>
      </p:sp>
      <p:sp>
        <p:nvSpPr>
          <p:cNvPr id="148" name="Text 132">
            <a:extLst>
              <a:ext uri="{FF2B5EF4-FFF2-40B4-BE49-F238E27FC236}">
                <a16:creationId xmlns:a16="http://schemas.microsoft.com/office/drawing/2014/main" id="{47569B42-9FAB-42AF-99B1-D95D6AC06C69}"/>
              </a:ext>
            </a:extLst>
          </p:cNvPr>
          <p:cNvSpPr/>
          <p:nvPr/>
        </p:nvSpPr>
        <p:spPr>
          <a:xfrm>
            <a:off x="284405" y="4876577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[2][2]</a:t>
            </a:r>
            <a:endParaRPr lang="en-US" sz="1000" dirty="0"/>
          </a:p>
        </p:txBody>
      </p:sp>
      <p:sp>
        <p:nvSpPr>
          <p:cNvPr id="149" name="Shape 133">
            <a:extLst>
              <a:ext uri="{FF2B5EF4-FFF2-40B4-BE49-F238E27FC236}">
                <a16:creationId xmlns:a16="http://schemas.microsoft.com/office/drawing/2014/main" id="{7409AB9C-60AC-423D-A7E9-5F75FAFE2AFE}"/>
              </a:ext>
            </a:extLst>
          </p:cNvPr>
          <p:cNvSpPr/>
          <p:nvPr/>
        </p:nvSpPr>
        <p:spPr>
          <a:xfrm>
            <a:off x="1381685" y="4876577"/>
            <a:ext cx="914400" cy="256032"/>
          </a:xfrm>
          <a:prstGeom prst="rect">
            <a:avLst/>
          </a:prstGeom>
          <a:solidFill>
            <a:srgbClr val="F0F5FA"/>
          </a:solidFill>
          <a:ln w="6350">
            <a:solidFill>
              <a:srgbClr val="CCDDEE"/>
            </a:solidFill>
            <a:prstDash val="solid"/>
          </a:ln>
        </p:spPr>
      </p:sp>
      <p:sp>
        <p:nvSpPr>
          <p:cNvPr id="150" name="Text 134">
            <a:extLst>
              <a:ext uri="{FF2B5EF4-FFF2-40B4-BE49-F238E27FC236}">
                <a16:creationId xmlns:a16="http://schemas.microsoft.com/office/drawing/2014/main" id="{4F15CA96-BBA4-4C11-B8C5-B5EDDC7D2303}"/>
              </a:ext>
            </a:extLst>
          </p:cNvPr>
          <p:cNvSpPr/>
          <p:nvPr/>
        </p:nvSpPr>
        <p:spPr>
          <a:xfrm>
            <a:off x="1381685" y="4876577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51" name="Shape 135">
            <a:extLst>
              <a:ext uri="{FF2B5EF4-FFF2-40B4-BE49-F238E27FC236}">
                <a16:creationId xmlns:a16="http://schemas.microsoft.com/office/drawing/2014/main" id="{E73CB283-EEEE-46C5-A004-5B8FA2B754B7}"/>
              </a:ext>
            </a:extLst>
          </p:cNvPr>
          <p:cNvSpPr/>
          <p:nvPr/>
        </p:nvSpPr>
        <p:spPr>
          <a:xfrm>
            <a:off x="2296085" y="4876577"/>
            <a:ext cx="1188720" cy="256032"/>
          </a:xfrm>
          <a:prstGeom prst="rect">
            <a:avLst/>
          </a:prstGeom>
          <a:solidFill>
            <a:srgbClr val="F0F5FA"/>
          </a:solidFill>
          <a:ln w="6350">
            <a:solidFill>
              <a:srgbClr val="CCDDEE"/>
            </a:solidFill>
            <a:prstDash val="solid"/>
          </a:ln>
        </p:spPr>
      </p:sp>
      <p:sp>
        <p:nvSpPr>
          <p:cNvPr id="152" name="Text 136">
            <a:extLst>
              <a:ext uri="{FF2B5EF4-FFF2-40B4-BE49-F238E27FC236}">
                <a16:creationId xmlns:a16="http://schemas.microsoft.com/office/drawing/2014/main" id="{8A337336-94AE-40A9-8816-EE77228828D5}"/>
              </a:ext>
            </a:extLst>
          </p:cNvPr>
          <p:cNvSpPr/>
          <p:nvPr/>
        </p:nvSpPr>
        <p:spPr>
          <a:xfrm>
            <a:off x="2296085" y="4876577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153" name="Shape 137">
            <a:extLst>
              <a:ext uri="{FF2B5EF4-FFF2-40B4-BE49-F238E27FC236}">
                <a16:creationId xmlns:a16="http://schemas.microsoft.com/office/drawing/2014/main" id="{B800BD38-0BB4-4C23-85DD-6B037E214693}"/>
              </a:ext>
            </a:extLst>
          </p:cNvPr>
          <p:cNvSpPr/>
          <p:nvPr/>
        </p:nvSpPr>
        <p:spPr>
          <a:xfrm>
            <a:off x="3484805" y="4876577"/>
            <a:ext cx="914400" cy="256032"/>
          </a:xfrm>
          <a:prstGeom prst="rect">
            <a:avLst/>
          </a:prstGeom>
          <a:solidFill>
            <a:srgbClr val="F0F5FA"/>
          </a:solidFill>
          <a:ln w="6350">
            <a:solidFill>
              <a:srgbClr val="CCDDEE"/>
            </a:solidFill>
            <a:prstDash val="solid"/>
          </a:ln>
        </p:spPr>
      </p:sp>
      <p:sp>
        <p:nvSpPr>
          <p:cNvPr id="154" name="Text 138">
            <a:extLst>
              <a:ext uri="{FF2B5EF4-FFF2-40B4-BE49-F238E27FC236}">
                <a16:creationId xmlns:a16="http://schemas.microsoft.com/office/drawing/2014/main" id="{99A4E5D7-47F9-4DC8-B566-BA73E49F0535}"/>
              </a:ext>
            </a:extLst>
          </p:cNvPr>
          <p:cNvSpPr/>
          <p:nvPr/>
        </p:nvSpPr>
        <p:spPr>
          <a:xfrm>
            <a:off x="3484805" y="4876577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dirty="0">
                <a:solidFill>
                  <a:srgbClr val="CC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000" dirty="0"/>
          </a:p>
        </p:txBody>
      </p:sp>
      <p:sp>
        <p:nvSpPr>
          <p:cNvPr id="155" name="Shape 139">
            <a:extLst>
              <a:ext uri="{FF2B5EF4-FFF2-40B4-BE49-F238E27FC236}">
                <a16:creationId xmlns:a16="http://schemas.microsoft.com/office/drawing/2014/main" id="{B4E7E169-F708-4063-880A-7E2B8B3EF6AD}"/>
              </a:ext>
            </a:extLst>
          </p:cNvPr>
          <p:cNvSpPr/>
          <p:nvPr/>
        </p:nvSpPr>
        <p:spPr>
          <a:xfrm>
            <a:off x="4399205" y="4876577"/>
            <a:ext cx="1371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CCDDEE"/>
            </a:solidFill>
            <a:prstDash val="solid"/>
          </a:ln>
        </p:spPr>
      </p:sp>
      <p:sp>
        <p:nvSpPr>
          <p:cNvPr id="156" name="Text 140">
            <a:extLst>
              <a:ext uri="{FF2B5EF4-FFF2-40B4-BE49-F238E27FC236}">
                <a16:creationId xmlns:a16="http://schemas.microsoft.com/office/drawing/2014/main" id="{D5CD0F30-DA74-459E-9FD3-5E61AA4BF08C}"/>
              </a:ext>
            </a:extLst>
          </p:cNvPr>
          <p:cNvSpPr/>
          <p:nvPr/>
        </p:nvSpPr>
        <p:spPr>
          <a:xfrm>
            <a:off x="4399205" y="4876577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dirty="0">
                <a:solidFill>
                  <a:srgbClr val="0A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57" name="Shape 141">
            <a:extLst>
              <a:ext uri="{FF2B5EF4-FFF2-40B4-BE49-F238E27FC236}">
                <a16:creationId xmlns:a16="http://schemas.microsoft.com/office/drawing/2014/main" id="{994A6A9D-2C37-426C-9EE2-36C1E6C20EA4}"/>
              </a:ext>
            </a:extLst>
          </p:cNvPr>
          <p:cNvSpPr/>
          <p:nvPr/>
        </p:nvSpPr>
        <p:spPr>
          <a:xfrm>
            <a:off x="5770805" y="4876577"/>
            <a:ext cx="914400" cy="256032"/>
          </a:xfrm>
          <a:prstGeom prst="rect">
            <a:avLst/>
          </a:prstGeom>
          <a:solidFill>
            <a:srgbClr val="F0F5FA"/>
          </a:solidFill>
          <a:ln w="6350">
            <a:solidFill>
              <a:srgbClr val="CCDDEE"/>
            </a:solidFill>
            <a:prstDash val="solid"/>
          </a:ln>
        </p:spPr>
      </p:sp>
      <p:sp>
        <p:nvSpPr>
          <p:cNvPr id="158" name="Text 142">
            <a:extLst>
              <a:ext uri="{FF2B5EF4-FFF2-40B4-BE49-F238E27FC236}">
                <a16:creationId xmlns:a16="http://schemas.microsoft.com/office/drawing/2014/main" id="{B1AC1753-B680-480F-8038-AE0A88B0AA8E}"/>
              </a:ext>
            </a:extLst>
          </p:cNvPr>
          <p:cNvSpPr/>
          <p:nvPr/>
        </p:nvSpPr>
        <p:spPr>
          <a:xfrm>
            <a:off x="5770805" y="4876577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C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A8A7A"/>
          </a:solidFill>
          <a:ln w="12700">
            <a:solidFill>
              <a:srgbClr val="0A8A7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Cases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4114800" cy="1188720"/>
          </a:xfrm>
          <a:prstGeom prst="rect">
            <a:avLst/>
          </a:prstGeom>
          <a:solidFill>
            <a:srgbClr val="0A3D35"/>
          </a:solidFill>
          <a:ln w="12700">
            <a:solidFill>
              <a:srgbClr val="14B8A4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005840"/>
            <a:ext cx="54864" cy="1188720"/>
          </a:xfrm>
          <a:prstGeom prst="rect">
            <a:avLst/>
          </a:prstGeom>
          <a:solidFill>
            <a:srgbClr val="14B8A4"/>
          </a:solidFill>
          <a:ln w="12700">
            <a:solidFill>
              <a:srgbClr val="14B8A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06984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4B8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  (1x1 matrix)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11480" y="1335024"/>
            <a:ext cx="3931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A[</a:t>
            </a:r>
            <a:r>
              <a:rPr lang="en-US" sz="950" dirty="0" err="1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95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][j]=[4], M=2, K=0, L=10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11480" y="1554480"/>
            <a:ext cx="3931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sum=6, even, in range -&gt; A[0][0]=0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11480" y="182880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Works correctly. Loops run exactly once.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754880" y="1005840"/>
            <a:ext cx="4114800" cy="1188720"/>
          </a:xfrm>
          <a:prstGeom prst="rect">
            <a:avLst/>
          </a:prstGeom>
          <a:solidFill>
            <a:srgbClr val="0A3D35"/>
          </a:solidFill>
          <a:ln w="12700">
            <a:solidFill>
              <a:srgbClr val="14B8A4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005840"/>
            <a:ext cx="54864" cy="1188720"/>
          </a:xfrm>
          <a:prstGeom prst="rect">
            <a:avLst/>
          </a:prstGeom>
          <a:solidFill>
            <a:srgbClr val="14B8A4"/>
          </a:solidFill>
          <a:ln w="12700">
            <a:solidFill>
              <a:srgbClr val="14B8A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92040" y="106984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4B8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elements get zeroed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892040" y="1335024"/>
            <a:ext cx="3931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All sums are odd OR outside [K, L]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892040" y="1554480"/>
            <a:ext cx="3931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Matrix unchanged, count = 0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892040" y="182880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Output reads: 0 elements have been changed.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2331720"/>
            <a:ext cx="4114800" cy="1188720"/>
          </a:xfrm>
          <a:prstGeom prst="rect">
            <a:avLst/>
          </a:prstGeom>
          <a:solidFill>
            <a:srgbClr val="0A3D35"/>
          </a:solidFill>
          <a:ln w="12700">
            <a:solidFill>
              <a:srgbClr val="14B8A4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2331720"/>
            <a:ext cx="54864" cy="1188720"/>
          </a:xfrm>
          <a:prstGeom prst="rect">
            <a:avLst/>
          </a:prstGeom>
          <a:solidFill>
            <a:srgbClr val="14B8A4"/>
          </a:solidFill>
          <a:ln w="12700">
            <a:solidFill>
              <a:srgbClr val="14B8A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1480" y="239572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4B8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elements get zeroed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11480" y="2660904"/>
            <a:ext cx="3931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Every A[i][j]+M is even and within [K,L]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11480" y="2880360"/>
            <a:ext cx="3931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Every cell becomes 0, count = N*N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11480" y="315468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Works correctly, count equals total number of cells.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754880" y="2331720"/>
            <a:ext cx="4114800" cy="1188720"/>
          </a:xfrm>
          <a:prstGeom prst="rect">
            <a:avLst/>
          </a:prstGeom>
          <a:solidFill>
            <a:srgbClr val="0A3D35"/>
          </a:solidFill>
          <a:ln w="12700">
            <a:solidFill>
              <a:srgbClr val="14B8A4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754880" y="2331720"/>
            <a:ext cx="54864" cy="1188720"/>
          </a:xfrm>
          <a:prstGeom prst="rect">
            <a:avLst/>
          </a:prstGeom>
          <a:solidFill>
            <a:srgbClr val="14B8A4"/>
          </a:solidFill>
          <a:ln w="12700">
            <a:solidFill>
              <a:srgbClr val="14B8A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92040" y="239572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4B8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even sum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892040" y="2660904"/>
            <a:ext cx="3931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A[i][j]=-7, M=3 -&gt; sum=-4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892040" y="2880360"/>
            <a:ext cx="3931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-4 % 2 == 0 -&gt; true -&gt; element is zeroed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892040" y="315468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C handles negative modulo correctly here.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3657600"/>
            <a:ext cx="4114800" cy="1188720"/>
          </a:xfrm>
          <a:prstGeom prst="rect">
            <a:avLst/>
          </a:prstGeom>
          <a:solidFill>
            <a:srgbClr val="0A3D35"/>
          </a:solidFill>
          <a:ln w="12700">
            <a:solidFill>
              <a:srgbClr val="14B8A4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274320" y="3657600"/>
            <a:ext cx="54864" cy="1188720"/>
          </a:xfrm>
          <a:prstGeom prst="rect">
            <a:avLst/>
          </a:prstGeom>
          <a:solidFill>
            <a:srgbClr val="14B8A4"/>
          </a:solidFill>
          <a:ln w="12700">
            <a:solidFill>
              <a:srgbClr val="14B8A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11480" y="372160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4B8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L  (single-point range)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411480" y="3986784"/>
            <a:ext cx="3931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K=6, L=6 -&gt; only sum==6 qualifies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11480" y="4206240"/>
            <a:ext cx="3931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Only elements where A[i][j]+M equals exactly 6 are zeroed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11480" y="448056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Works correctly, the range condition is very strict.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754880" y="3657600"/>
            <a:ext cx="4114800" cy="1188720"/>
          </a:xfrm>
          <a:prstGeom prst="rect">
            <a:avLst/>
          </a:prstGeom>
          <a:solidFill>
            <a:srgbClr val="0A3D35"/>
          </a:solidFill>
          <a:ln w="12700">
            <a:solidFill>
              <a:srgbClr val="14B8A4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754880" y="3657600"/>
            <a:ext cx="54864" cy="1188720"/>
          </a:xfrm>
          <a:prstGeom prst="rect">
            <a:avLst/>
          </a:prstGeom>
          <a:solidFill>
            <a:srgbClr val="14B8A4"/>
          </a:solidFill>
          <a:ln w="12700">
            <a:solidFill>
              <a:srgbClr val="14B8A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92040" y="372160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4B8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Invalid input (out of range)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4892040" y="3986784"/>
            <a:ext cx="3931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User types 5000 for an element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892040" y="4206240"/>
            <a:ext cx="3931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do-while re-prompts until valid value entered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4892040" y="448056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The only place in the program where input is validated.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F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980291"/>
            <a:ext cx="9144000" cy="3262256"/>
          </a:xfrm>
          <a:prstGeom prst="rect">
            <a:avLst/>
          </a:prstGeom>
          <a:solidFill>
            <a:srgbClr val="0A8A7A"/>
          </a:solidFill>
          <a:ln w="12700">
            <a:solidFill>
              <a:srgbClr val="0A8A7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9623" y="2075157"/>
            <a:ext cx="8229600" cy="10725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D0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you!</a:t>
            </a:r>
            <a:endParaRPr lang="en-US" sz="4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</TotalTime>
  <Words>866</Words>
  <Application>Microsoft Office PowerPoint</Application>
  <PresentationFormat>Экран (16:9)</PresentationFormat>
  <Paragraphs>171</Paragraphs>
  <Slides>7</Slides>
  <Notes>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1" baseType="lpstr">
      <vt:lpstr>Arial</vt:lpstr>
      <vt:lpstr>Calibri</vt:lpstr>
      <vt:lpstr>Courier New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2D Array Processing — Task 12</dc:title>
  <dc:subject>PptxGenJS Presentation</dc:subject>
  <dc:creator>Olga Valerianova</dc:creator>
  <cp:lastModifiedBy>Sergey</cp:lastModifiedBy>
  <cp:revision>7</cp:revision>
  <dcterms:created xsi:type="dcterms:W3CDTF">2026-03-27T13:34:01Z</dcterms:created>
  <dcterms:modified xsi:type="dcterms:W3CDTF">2026-04-02T13:06:49Z</dcterms:modified>
</cp:coreProperties>
</file>